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457200"/>
            <a:ext cx="4114800" cy="7315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-457200" y="-457200"/>
            <a:ext cx="3474720" cy="73152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1828800" y="-457200"/>
            <a:ext cx="274320" cy="7315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</a:t>
            </a:r>
            <a:pPr indent="0" marL="0">
              <a:buNone/>
            </a:pPr>
            <a:r>
              <a:rPr lang="en-US" sz="56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System Development, Lab.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92608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DigiLab Corporate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d'Affichage Dynamique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55448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3703320"/>
            <a:ext cx="1554480" cy="411480"/>
          </a:xfrm>
          <a:prstGeom prst="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3703320"/>
            <a:ext cx="1554480" cy="411480"/>
          </a:xfrm>
          <a:prstGeom prst="rect">
            <a:avLst>
              <a:gd name="adj" fmla="val 13333"/>
            </a:avLst>
          </a:pr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0"/>
            <a:ext cx="4114800" cy="51480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4960" y="457200"/>
            <a:ext cx="338328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457200"/>
            <a:ext cx="33832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475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KPI — USINE PRINCIPALE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40680" y="822960"/>
            <a:ext cx="777240" cy="868680"/>
          </a:xfrm>
          <a:prstGeom prst="rect">
            <a:avLst/>
          </a:prstGeom>
          <a:solidFill>
            <a:srgbClr val="253B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868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281928" y="822960"/>
            <a:ext cx="777240" cy="868680"/>
          </a:xfrm>
          <a:prstGeom prst="rect">
            <a:avLst/>
          </a:prstGeom>
          <a:solidFill>
            <a:srgbClr val="253B5E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868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81928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123176" y="822960"/>
            <a:ext cx="77724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7123176" y="868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23176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964424" y="822960"/>
            <a:ext cx="777240" cy="868680"/>
          </a:xfrm>
          <a:prstGeom prst="rect">
            <a:avLst/>
          </a:prstGeom>
          <a:solidFill>
            <a:srgbClr val="253B5E"/>
          </a:solidFill>
          <a:ln/>
        </p:spPr>
      </p:sp>
      <p:sp>
        <p:nvSpPr>
          <p:cNvPr id="30" name="Text 28"/>
          <p:cNvSpPr/>
          <p:nvPr/>
        </p:nvSpPr>
        <p:spPr>
          <a:xfrm>
            <a:off x="7964424" y="868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964424" y="1353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40680" y="17922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+12% vs mois dernier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394960" y="2514600"/>
            <a:ext cx="338328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514600"/>
            <a:ext cx="338328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2532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INTERNE — RH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406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 Bienvenue à notre nouvelle équipe !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Réunion mensuelle — Lundi 10h, Salle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Résultats Q4 disponibles sur l'intranet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 Rappel : Formation sécurité le 15/03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  |  Treichville, Abidjan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allons voir ensemble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10512"/>
            <a:ext cx="45720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10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DigiLab 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d'affichage dynamique corporate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96312"/>
            <a:ext cx="457200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96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l'affichage dynamique 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" y="2770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bénéfices pour votre entreprise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82112"/>
            <a:ext cx="45720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182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fonctionne 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processus en 3 étapes simples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8679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67912"/>
            <a:ext cx="457200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fonctionnalités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" y="4142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Communication, signalétique, KPI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8105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810512"/>
            <a:ext cx="45720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1810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9512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39512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cloud &amp; diffusion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4963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496312"/>
            <a:ext cx="457200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2496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9512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Offres &amp; modèle économique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39512" y="2770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Tarification et prestations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1821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182112"/>
            <a:ext cx="45720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3182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9512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secteurs d'activité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39512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références et cibles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86791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867912"/>
            <a:ext cx="457200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9512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choisir ESDLAB ?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39512" y="4142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valeur ajoutée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44568" y="1828800"/>
            <a:ext cx="54864" cy="274320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que DigiLab 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d'affichage dynamique spécialisée Corporate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389120" cy="2651760"/>
          </a:xfrm>
          <a:prstGeom prst="rect">
            <a:avLst/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43891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 est un logiciel d'affichage dynamique « Full Web » permettant de piloter à distance la diffusion de contenus multimédias sur tous vos écrans, en toute simplicité.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Spécialisé dans la communication CORPORATE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Aucune installation logicielle requise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Accessible depuis n'importe quel navigateur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831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Déployé en Afrique de l'Ouest depuis Abidjan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+ 1 000 clients déjà conquis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37490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1828800"/>
            <a:ext cx="502920" cy="79552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2029968"/>
            <a:ext cx="393192" cy="3931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692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Diffusez vos données opérationnelles, KPI et actualités en temps réel sur vos écrans.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74920" y="2715768"/>
            <a:ext cx="37490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74920" y="2715768"/>
            <a:ext cx="502920" cy="79552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916936"/>
            <a:ext cx="393192" cy="3931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6928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ANNONCER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69280" y="3035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Communiquez vos événements, promotions et messages clés auprès de vos équipes et visiteurs.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074920" y="3602736"/>
            <a:ext cx="374904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74920" y="3602736"/>
            <a:ext cx="502920" cy="795528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803904"/>
            <a:ext cx="393192" cy="39319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69280" y="3648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STIMULER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669280" y="3922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Motivez vos collaborateurs avec des tableaux de bord dynamiques et des challenges visuels.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5" name="Shape 30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1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l'affichage dynamique 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chiffres qui parlent d'eux-mêmes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011680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400%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715768"/>
            <a:ext cx="12801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d'impact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affichage papier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96312" y="1828800"/>
            <a:ext cx="2011680" cy="155448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96312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2862072" y="2715768"/>
            <a:ext cx="12801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employés préfèrent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communication visuelle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1828800"/>
            <a:ext cx="201168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038344" y="2715768"/>
            <a:ext cx="12801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réduction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erreurs de communication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1828800"/>
            <a:ext cx="2011680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48856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sec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7214616" y="2715768"/>
            <a:ext cx="12801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40296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mettre à jour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contenu sur tous les écrans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520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problèmes que DigiLab résout 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904488"/>
            <a:ext cx="4206240" cy="74980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Sans DigiLab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papier dépassé, informations obsolètes, coûts d'impression, faible engagement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904488"/>
            <a:ext cx="4206240" cy="749808"/>
          </a:xfrm>
          <a:prstGeom prst="rect">
            <a:avLst/>
          </a:prstGeom>
          <a:solidFill>
            <a:srgbClr val="F0FF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Avec DigiLab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actualisés en temps réel, zéro impression, 100% de visibilité, équipes impliquées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9696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8656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743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7904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39696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8686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14630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7904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5072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70448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4032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05740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17904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05072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26864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48656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92240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35824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265176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6112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17904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39696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61488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05072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48656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70448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14032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35824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57616" y="324612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6112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17904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61488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05072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26864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48656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70448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92240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114032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35824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57616" y="384048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4320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6112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517904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39696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61488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05072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26864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48656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70448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92240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114032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35824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57616" y="4434840"/>
            <a:ext cx="54864" cy="54864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0" y="164592"/>
            <a:ext cx="2743200" cy="384048"/>
          </a:xfrm>
          <a:prstGeom prst="rect">
            <a:avLst>
              <a:gd name="adj" fmla="val 23810"/>
            </a:avLst>
          </a:prstGeom>
          <a:solidFill>
            <a:srgbClr val="C0392B"/>
          </a:solidFill>
          <a:ln/>
        </p:spPr>
      </p:sp>
      <p:sp>
        <p:nvSpPr>
          <p:cNvPr id="115" name="Text 113"/>
          <p:cNvSpPr/>
          <p:nvPr/>
        </p:nvSpPr>
        <p:spPr>
          <a:xfrm>
            <a:off x="3200400" y="164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FONCTIONNE ?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étapes simples pour diffuser vos contenus</a:t>
            </a:r>
            <a:endParaRPr lang="en-US" sz="2600" dirty="0"/>
          </a:p>
        </p:txBody>
      </p:sp>
      <p:sp>
        <p:nvSpPr>
          <p:cNvPr id="117" name="Shape 115"/>
          <p:cNvSpPr/>
          <p:nvPr/>
        </p:nvSpPr>
        <p:spPr>
          <a:xfrm>
            <a:off x="365760" y="1371600"/>
            <a:ext cx="2560320" cy="32461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1325880" y="1188720"/>
            <a:ext cx="640080" cy="64008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19" name="Text 117"/>
          <p:cNvSpPr/>
          <p:nvPr/>
        </p:nvSpPr>
        <p:spPr>
          <a:xfrm>
            <a:off x="13258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1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36192"/>
            <a:ext cx="502920" cy="502920"/>
          </a:xfrm>
          <a:prstGeom prst="rect">
            <a:avLst/>
          </a:prstGeom>
        </p:spPr>
      </p:pic>
      <p:sp>
        <p:nvSpPr>
          <p:cNvPr id="121" name="Text 118"/>
          <p:cNvSpPr/>
          <p:nvPr/>
        </p:nvSpPr>
        <p:spPr>
          <a:xfrm>
            <a:off x="36576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CRÉEZ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3657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contenus</a:t>
            </a:r>
            <a:endParaRPr lang="en-US" sz="1300" dirty="0"/>
          </a:p>
        </p:txBody>
      </p:sp>
      <p:sp>
        <p:nvSpPr>
          <p:cNvPr id="123" name="Shape 120"/>
          <p:cNvSpPr/>
          <p:nvPr/>
        </p:nvSpPr>
        <p:spPr>
          <a:xfrm>
            <a:off x="822960" y="292608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4" name="Text 121"/>
          <p:cNvSpPr/>
          <p:nvPr/>
        </p:nvSpPr>
        <p:spPr>
          <a:xfrm>
            <a:off x="502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Éditeur visuel drag &amp; drop</a:t>
            </a:r>
            <a:endParaRPr lang="en-US" sz="900" dirty="0"/>
          </a:p>
        </p:txBody>
      </p:sp>
      <p:sp>
        <p:nvSpPr>
          <p:cNvPr id="125" name="Text 122"/>
          <p:cNvSpPr/>
          <p:nvPr/>
        </p:nvSpPr>
        <p:spPr>
          <a:xfrm>
            <a:off x="50292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Gabarits corporate prêts à l'emploi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502920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 médias : images, vidéos, PDF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50292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Connexion Excel / Google Sheets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5029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Contenus auto : météo, RSS, quiz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3291840" y="1371600"/>
            <a:ext cx="2560320" cy="324612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0" name="Shape 127"/>
          <p:cNvSpPr/>
          <p:nvPr/>
        </p:nvSpPr>
        <p:spPr>
          <a:xfrm>
            <a:off x="4251960" y="1188720"/>
            <a:ext cx="640080" cy="64008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31" name="Text 128"/>
          <p:cNvSpPr/>
          <p:nvPr/>
        </p:nvSpPr>
        <p:spPr>
          <a:xfrm>
            <a:off x="4251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36192"/>
            <a:ext cx="502920" cy="502920"/>
          </a:xfrm>
          <a:prstGeom prst="rect">
            <a:avLst/>
          </a:prstGeom>
        </p:spPr>
      </p:pic>
      <p:sp>
        <p:nvSpPr>
          <p:cNvPr id="133" name="Text 129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PLANIFIEZ</a:t>
            </a:r>
            <a:endParaRPr lang="en-US" sz="2200" dirty="0"/>
          </a:p>
        </p:txBody>
      </p:sp>
      <p:sp>
        <p:nvSpPr>
          <p:cNvPr id="134" name="Text 130"/>
          <p:cNvSpPr/>
          <p:nvPr/>
        </p:nvSpPr>
        <p:spPr>
          <a:xfrm>
            <a:off x="329184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médias</a:t>
            </a:r>
            <a:endParaRPr lang="en-US" sz="1300" dirty="0"/>
          </a:p>
        </p:txBody>
      </p:sp>
      <p:sp>
        <p:nvSpPr>
          <p:cNvPr id="135" name="Shape 131"/>
          <p:cNvSpPr/>
          <p:nvPr/>
        </p:nvSpPr>
        <p:spPr>
          <a:xfrm>
            <a:off x="3749040" y="292608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6" name="Text 132"/>
          <p:cNvSpPr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Calendrier de diffusion visuel</a:t>
            </a:r>
            <a:endParaRPr lang="en-US" sz="900" dirty="0"/>
          </a:p>
        </p:txBody>
      </p:sp>
      <p:sp>
        <p:nvSpPr>
          <p:cNvPr id="137" name="Text 133"/>
          <p:cNvSpPr/>
          <p:nvPr/>
        </p:nvSpPr>
        <p:spPr>
          <a:xfrm>
            <a:off x="342900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Plages horaires par écran ou groupe</a:t>
            </a:r>
            <a:endParaRPr lang="en-US" sz="900" dirty="0"/>
          </a:p>
        </p:txBody>
      </p:sp>
      <p:sp>
        <p:nvSpPr>
          <p:cNvPr id="138" name="Text 134"/>
          <p:cNvSpPr/>
          <p:nvPr/>
        </p:nvSpPr>
        <p:spPr>
          <a:xfrm>
            <a:off x="3429000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Priorités &amp; messages d'urgence</a:t>
            </a:r>
            <a:endParaRPr lang="en-US" sz="900" dirty="0"/>
          </a:p>
        </p:txBody>
      </p:sp>
      <p:sp>
        <p:nvSpPr>
          <p:cNvPr id="139" name="Text 135"/>
          <p:cNvSpPr/>
          <p:nvPr/>
        </p:nvSpPr>
        <p:spPr>
          <a:xfrm>
            <a:off x="342900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Prévisualisation avant publication</a:t>
            </a:r>
            <a:endParaRPr lang="en-US" sz="900" dirty="0"/>
          </a:p>
        </p:txBody>
      </p:sp>
      <p:sp>
        <p:nvSpPr>
          <p:cNvPr id="140" name="Text 136"/>
          <p:cNvSpPr/>
          <p:nvPr/>
        </p:nvSpPr>
        <p:spPr>
          <a:xfrm>
            <a:off x="342900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Gestion des droits par utilisateur</a:t>
            </a:r>
            <a:endParaRPr lang="en-US" sz="900" dirty="0"/>
          </a:p>
        </p:txBody>
      </p:sp>
      <p:sp>
        <p:nvSpPr>
          <p:cNvPr id="141" name="Shape 137"/>
          <p:cNvSpPr/>
          <p:nvPr/>
        </p:nvSpPr>
        <p:spPr>
          <a:xfrm>
            <a:off x="6217920" y="1371600"/>
            <a:ext cx="2560320" cy="3246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2" name="Shape 138"/>
          <p:cNvSpPr/>
          <p:nvPr/>
        </p:nvSpPr>
        <p:spPr>
          <a:xfrm>
            <a:off x="7178040" y="1188720"/>
            <a:ext cx="640080" cy="64008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43" name="Text 139"/>
          <p:cNvSpPr/>
          <p:nvPr/>
        </p:nvSpPr>
        <p:spPr>
          <a:xfrm>
            <a:off x="7178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36192"/>
            <a:ext cx="502920" cy="502920"/>
          </a:xfrm>
          <a:prstGeom prst="rect">
            <a:avLst/>
          </a:prstGeom>
        </p:spPr>
      </p:pic>
      <p:sp>
        <p:nvSpPr>
          <p:cNvPr id="145" name="Text 140"/>
          <p:cNvSpPr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DIFFUSEZ</a:t>
            </a:r>
            <a:endParaRPr lang="en-US" sz="2200" dirty="0"/>
          </a:p>
        </p:txBody>
      </p:sp>
      <p:sp>
        <p:nvSpPr>
          <p:cNvPr id="146" name="Text 141"/>
          <p:cNvSpPr/>
          <p:nvPr/>
        </p:nvSpPr>
        <p:spPr>
          <a:xfrm>
            <a:off x="621792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synchronisés</a:t>
            </a:r>
            <a:endParaRPr lang="en-US" sz="1100" dirty="0"/>
          </a:p>
        </p:txBody>
      </p:sp>
      <p:sp>
        <p:nvSpPr>
          <p:cNvPr id="147" name="Shape 142"/>
          <p:cNvSpPr/>
          <p:nvPr/>
        </p:nvSpPr>
        <p:spPr>
          <a:xfrm>
            <a:off x="6675120" y="2926080"/>
            <a:ext cx="16459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8" name="Text 143"/>
          <p:cNvSpPr/>
          <p:nvPr/>
        </p:nvSpPr>
        <p:spPr>
          <a:xfrm>
            <a:off x="6355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Tous vos écrans simultanément</a:t>
            </a:r>
            <a:endParaRPr lang="en-US" sz="900" dirty="0"/>
          </a:p>
        </p:txBody>
      </p:sp>
      <p:sp>
        <p:nvSpPr>
          <p:cNvPr id="149" name="Text 144"/>
          <p:cNvSpPr/>
          <p:nvPr/>
        </p:nvSpPr>
        <p:spPr>
          <a:xfrm>
            <a:off x="635508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Compatible Smart TV, PC, Android</a:t>
            </a:r>
            <a:endParaRPr lang="en-US" sz="900" dirty="0"/>
          </a:p>
        </p:txBody>
      </p:sp>
      <p:sp>
        <p:nvSpPr>
          <p:cNvPr id="150" name="Text 145"/>
          <p:cNvSpPr/>
          <p:nvPr/>
        </p:nvSpPr>
        <p:spPr>
          <a:xfrm>
            <a:off x="6355080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Synchronisation temps réel (WebSocket)</a:t>
            </a:r>
            <a:endParaRPr lang="en-US" sz="900" dirty="0"/>
          </a:p>
        </p:txBody>
      </p:sp>
      <p:sp>
        <p:nvSpPr>
          <p:cNvPr id="151" name="Text 146"/>
          <p:cNvSpPr/>
          <p:nvPr/>
        </p:nvSpPr>
        <p:spPr>
          <a:xfrm>
            <a:off x="635508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 offline si coupure réseau</a:t>
            </a:r>
            <a:endParaRPr lang="en-US" sz="900" dirty="0"/>
          </a:p>
        </p:txBody>
      </p:sp>
      <p:sp>
        <p:nvSpPr>
          <p:cNvPr id="152" name="Text 147"/>
          <p:cNvSpPr/>
          <p:nvPr/>
        </p:nvSpPr>
        <p:spPr>
          <a:xfrm>
            <a:off x="63550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Supervision depuis PC ou smartphone</a:t>
            </a:r>
            <a:endParaRPr lang="en-US" sz="900" dirty="0"/>
          </a:p>
        </p:txBody>
      </p:sp>
      <p:sp>
        <p:nvSpPr>
          <p:cNvPr id="153" name="Shape 148"/>
          <p:cNvSpPr/>
          <p:nvPr/>
        </p:nvSpPr>
        <p:spPr>
          <a:xfrm>
            <a:off x="2971800" y="2834640"/>
            <a:ext cx="292608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4" name="Text 149"/>
          <p:cNvSpPr/>
          <p:nvPr/>
        </p:nvSpPr>
        <p:spPr>
          <a:xfrm>
            <a:off x="2926080" y="2697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155" name="Shape 150"/>
          <p:cNvSpPr/>
          <p:nvPr/>
        </p:nvSpPr>
        <p:spPr>
          <a:xfrm>
            <a:off x="5897880" y="2834640"/>
            <a:ext cx="292608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Text 151"/>
          <p:cNvSpPr/>
          <p:nvPr/>
        </p:nvSpPr>
        <p:spPr>
          <a:xfrm>
            <a:off x="5852160" y="2697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157" name="Shape 1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58" name="Shape 153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9" name="Text 154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160" name="Text 155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clés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complète adaptée à votre entreprise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11680"/>
            <a:ext cx="502920" cy="502920"/>
          </a:xfrm>
          <a:prstGeom prst="oval">
            <a:avLst/>
          </a:prstGeom>
          <a:solidFill>
            <a:srgbClr val="C0392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075688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6984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interne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règles de sécurité, actualités RH, implication des équipes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874520"/>
            <a:ext cx="26974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5"/>
          <p:cNvSpPr/>
          <p:nvPr/>
        </p:nvSpPr>
        <p:spPr>
          <a:xfrm>
            <a:off x="3337560" y="2011680"/>
            <a:ext cx="502920" cy="502920"/>
          </a:xfrm>
          <a:prstGeom prst="oval">
            <a:avLst/>
          </a:prstGeom>
          <a:solidFill>
            <a:srgbClr val="E67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07568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5020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externe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64992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visiteurs, image de marque, quizz, promotions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8076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0760" y="1874520"/>
            <a:ext cx="269748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0" y="2011680"/>
            <a:ext cx="502920" cy="502920"/>
          </a:xfrm>
          <a:prstGeom prst="oval">
            <a:avLst/>
          </a:prstGeom>
          <a:solidFill>
            <a:srgbClr val="2C3E5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3056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Signalétique dynamique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45352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Guidage, réservation de salles, plans interactifs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20040" y="32918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329184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5"/>
          <p:cNvSpPr/>
          <p:nvPr/>
        </p:nvSpPr>
        <p:spPr>
          <a:xfrm>
            <a:off x="457200" y="3429000"/>
            <a:ext cx="502920" cy="502920"/>
          </a:xfrm>
          <a:prstGeom prst="oval">
            <a:avLst/>
          </a:prstGeom>
          <a:solidFill>
            <a:srgbClr val="C0392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493008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69848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Management &amp; KPI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84632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ERP/GPAO, tableaux de bord production temps réel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00400" y="32918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0" y="3291840"/>
            <a:ext cx="26974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Shape 30"/>
          <p:cNvSpPr/>
          <p:nvPr/>
        </p:nvSpPr>
        <p:spPr>
          <a:xfrm>
            <a:off x="3337560" y="3429000"/>
            <a:ext cx="502920" cy="502920"/>
          </a:xfrm>
          <a:prstGeom prst="oval">
            <a:avLst/>
          </a:prstGeom>
          <a:solidFill>
            <a:srgbClr val="E67E2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493008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950208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automatiques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64992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Météo, flux RSS, quiz, citations, annonces du jour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080760" y="32918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80760" y="3291840"/>
            <a:ext cx="269748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2" name="Shape 35"/>
          <p:cNvSpPr/>
          <p:nvPr/>
        </p:nvSpPr>
        <p:spPr>
          <a:xfrm>
            <a:off x="6217920" y="3429000"/>
            <a:ext cx="502920" cy="502920"/>
          </a:xfrm>
          <a:prstGeom prst="oval">
            <a:avLst/>
          </a:prstGeom>
          <a:solidFill>
            <a:srgbClr val="2C3E5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93008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830568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Full Web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245352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depuis PC, tablette, smartphone – aucune installation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47" name="Shape 39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8" name="Text 40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Cloud native – Full Web – Haute disponibilité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691640"/>
            <a:ext cx="2926080" cy="1097280"/>
          </a:xfrm>
          <a:prstGeom prst="rect">
            <a:avLst/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691640"/>
            <a:ext cx="2926080" cy="6400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1051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49040" y="1764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SERVEUR CLOUD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20848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 •  Base de données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médias  •  API REST  •  WebSocket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03520" y="1691640"/>
            <a:ext cx="731520" cy="347472"/>
          </a:xfrm>
          <a:prstGeom prst="rect">
            <a:avLst>
              <a:gd name="adj" fmla="val 21053"/>
            </a:avLst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0" y="1691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1691640"/>
            <a:ext cx="246888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1691640"/>
            <a:ext cx="2468880" cy="64008"/>
          </a:xfrm>
          <a:prstGeom prst="rect">
            <a:avLst/>
          </a:prstGeom>
          <a:solidFill>
            <a:srgbClr val="922B2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136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ADMIN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 Web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• Tablette • Smartphone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installation requise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400800" y="1691640"/>
            <a:ext cx="2423160" cy="10972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0" y="1691640"/>
            <a:ext cx="2423160" cy="6400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0136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13448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PLAYERS ÉCRANS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10528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 • Mini-PC • Android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• Borne tactile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natif – mode offline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788920" y="2240280"/>
            <a:ext cx="3200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2743200" y="2029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6035040" y="2240280"/>
            <a:ext cx="365760" cy="0"/>
          </a:xfrm>
          <a:prstGeom prst="line">
            <a:avLst/>
          </a:prstGeom>
          <a:noFill/>
          <a:ln w="31750">
            <a:solidFill>
              <a:srgbClr val="E67E22"/>
            </a:solidFill>
            <a:prstDash val="dash"/>
          </a:ln>
        </p:spPr>
      </p:sp>
      <p:sp>
        <p:nvSpPr>
          <p:cNvPr id="30" name="Text 25"/>
          <p:cNvSpPr/>
          <p:nvPr/>
        </p:nvSpPr>
        <p:spPr>
          <a:xfrm>
            <a:off x="5989320" y="2029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20040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20040" y="3063240"/>
            <a:ext cx="457200" cy="146304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3246120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50392" y="3127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50392" y="3474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automatique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Réplication haute dispo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2496312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496312" y="3063240"/>
            <a:ext cx="457200" cy="14630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76" y="3246120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026664" y="3127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026664" y="3474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 1.3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JWT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rôles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672584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672584" y="3063240"/>
            <a:ext cx="457200" cy="1463040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246120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02936" y="3127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Intégrations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5202936" y="3474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documentée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Connecteurs ERP/CRM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 &amp; Excel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848856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848856" y="3063240"/>
            <a:ext cx="457200" cy="146304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246120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379208" y="3127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7379208" y="3474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 via 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offline player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24h/24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52" name="Shape 43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3" name="Text 44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Écosystème de diffusion DigiLab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pensée pour la fiabilité, la performance et la scalabilité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383280" y="1463040"/>
            <a:ext cx="2377440" cy="1645920"/>
          </a:xfrm>
          <a:prstGeom prst="oval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20440" y="1572768"/>
            <a:ext cx="2103120" cy="1426464"/>
          </a:xfrm>
          <a:prstGeom prst="oval">
            <a:avLst/>
          </a:prstGeom>
          <a:solidFill>
            <a:srgbClr val="922B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6420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2240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DigiLab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0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4300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14300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12710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Web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965960" y="1536192"/>
            <a:ext cx="141732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ysDash"/>
          </a:ln>
        </p:spPr>
      </p:sp>
      <p:sp>
        <p:nvSpPr>
          <p:cNvPr id="14" name="Text 10"/>
          <p:cNvSpPr/>
          <p:nvPr/>
        </p:nvSpPr>
        <p:spPr>
          <a:xfrm>
            <a:off x="3246120" y="1399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24028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24028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" y="2368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965960" y="2633472"/>
            <a:ext cx="141732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ysDash"/>
          </a:ln>
        </p:spPr>
      </p:sp>
      <p:sp>
        <p:nvSpPr>
          <p:cNvPr id="20" name="Text 15"/>
          <p:cNvSpPr/>
          <p:nvPr/>
        </p:nvSpPr>
        <p:spPr>
          <a:xfrm>
            <a:off x="3246120" y="2496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24612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24612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290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6112" y="33741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/ API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965960" y="3639312"/>
            <a:ext cx="141732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ysDash"/>
          </a:ln>
        </p:spPr>
      </p:sp>
      <p:sp>
        <p:nvSpPr>
          <p:cNvPr id="26" name="Text 20"/>
          <p:cNvSpPr/>
          <p:nvPr/>
        </p:nvSpPr>
        <p:spPr>
          <a:xfrm>
            <a:off x="3246120" y="35021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178040" y="114300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178040" y="1143000"/>
            <a:ext cx="54864" cy="82296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3258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08392" y="12710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Philips / Samsung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60720" y="1536192"/>
            <a:ext cx="1417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ysDash"/>
          </a:ln>
        </p:spPr>
      </p:sp>
      <p:sp>
        <p:nvSpPr>
          <p:cNvPr id="32" name="Text 25"/>
          <p:cNvSpPr/>
          <p:nvPr/>
        </p:nvSpPr>
        <p:spPr>
          <a:xfrm>
            <a:off x="7086600" y="1399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178040" y="224028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178040" y="224028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4231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08392" y="2368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Linux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760720" y="2633472"/>
            <a:ext cx="1417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ysDash"/>
          </a:ln>
        </p:spPr>
      </p:sp>
      <p:sp>
        <p:nvSpPr>
          <p:cNvPr id="38" name="Text 30"/>
          <p:cNvSpPr/>
          <p:nvPr/>
        </p:nvSpPr>
        <p:spPr>
          <a:xfrm>
            <a:off x="7086600" y="2496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178040" y="3246120"/>
            <a:ext cx="1600200" cy="822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178040" y="3246120"/>
            <a:ext cx="54864" cy="82296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42900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708392" y="33741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Borne tactile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 / Kiosque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5760720" y="3639312"/>
            <a:ext cx="1417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ysDash"/>
          </a:ln>
        </p:spPr>
      </p:sp>
      <p:sp>
        <p:nvSpPr>
          <p:cNvPr id="44" name="Text 35"/>
          <p:cNvSpPr/>
          <p:nvPr/>
        </p:nvSpPr>
        <p:spPr>
          <a:xfrm>
            <a:off x="7086600" y="35021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▶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20040" y="4251960"/>
            <a:ext cx="19659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32004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30s</a:t>
            </a:r>
            <a:endParaRPr lang="en-US" sz="2200" dirty="0"/>
          </a:p>
        </p:txBody>
      </p:sp>
      <p:sp>
        <p:nvSpPr>
          <p:cNvPr id="47" name="Text 38"/>
          <p:cNvSpPr/>
          <p:nvPr/>
        </p:nvSpPr>
        <p:spPr>
          <a:xfrm>
            <a:off x="320040" y="4572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Text 40"/>
          <p:cNvSpPr/>
          <p:nvPr/>
        </p:nvSpPr>
        <p:spPr>
          <a:xfrm>
            <a:off x="246888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2200" dirty="0"/>
          </a:p>
        </p:txBody>
      </p:sp>
      <p:sp>
        <p:nvSpPr>
          <p:cNvPr id="50" name="Text 41"/>
          <p:cNvSpPr/>
          <p:nvPr/>
        </p:nvSpPr>
        <p:spPr>
          <a:xfrm>
            <a:off x="2468880" y="4572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4617720" y="4251960"/>
            <a:ext cx="19659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2" name="Text 43"/>
          <p:cNvSpPr/>
          <p:nvPr/>
        </p:nvSpPr>
        <p:spPr>
          <a:xfrm>
            <a:off x="461772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53" name="Text 44"/>
          <p:cNvSpPr/>
          <p:nvPr/>
        </p:nvSpPr>
        <p:spPr>
          <a:xfrm>
            <a:off x="4617720" y="4572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d'écrans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6766560" y="4251960"/>
            <a:ext cx="19659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Text 46"/>
          <p:cNvSpPr/>
          <p:nvPr/>
        </p:nvSpPr>
        <p:spPr>
          <a:xfrm>
            <a:off x="676656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24h/24</a:t>
            </a:r>
            <a:endParaRPr lang="en-US" sz="2200" dirty="0"/>
          </a:p>
        </p:txBody>
      </p:sp>
      <p:sp>
        <p:nvSpPr>
          <p:cNvPr id="56" name="Text 47"/>
          <p:cNvSpPr/>
          <p:nvPr/>
        </p:nvSpPr>
        <p:spPr>
          <a:xfrm>
            <a:off x="6766560" y="4572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58" name="Shape 49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9" name="Text 50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60" name="Text 51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 offres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solutions adaptées à chaque taille d'entreprise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265176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à 5 écrans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651760"/>
            <a:ext cx="2103120" cy="36576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XOF / mois / écran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21031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Gabarits standard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Support email 48h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Bibliothèque médias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Contenus automatiques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Mises à jour incluses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6392" y="1691640"/>
            <a:ext cx="2834640" cy="2697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76672" y="1691640"/>
            <a:ext cx="594360" cy="411480"/>
          </a:xfrm>
          <a:prstGeom prst="rect">
            <a:avLst>
              <a:gd name="adj" fmla="val 17778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5376672" y="1691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TOP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9272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2258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à 20 écrans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2560320"/>
            <a:ext cx="22860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12 000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319272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XOF / mois / écran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10712" y="3429000"/>
            <a:ext cx="22860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Tous modules inclus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64992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Support prioritaire 8h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4992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Intégrations Excel/Sheets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4343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Module signalétique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Personnalisation graphique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35624" y="1783080"/>
            <a:ext cx="265176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18504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318504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et + écrans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9944" y="2651760"/>
            <a:ext cx="210312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10 000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318504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XOF / mois / écran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9944" y="3520440"/>
            <a:ext cx="21031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API complète &amp; webhooks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64224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Visual Management KPI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64224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Account manager dédié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64224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SLA garanti 99.9%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64224" y="4709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Développement sur mesure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6542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CUSTOM disponible sur devis – Développement spécifique, installation on-premise, SLA dédié  |  Demo gratuite sur www.esdlab.pro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 secteurs d'activité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PME aux grands groupes industriels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269748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92938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0392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&amp; Production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sécurité, motivation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8745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874520"/>
            <a:ext cx="2697480" cy="4572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92938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0752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&amp; Tertiaire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64992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Accueil, image de marque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80760" y="18745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874520"/>
            <a:ext cx="269748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92938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11112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&amp; Retail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245352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Promotions, menus, PLV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0040" y="32461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3246120"/>
            <a:ext cx="2697480" cy="4572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0098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0392" y="3337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&amp; Institutions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84632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Signalétique, guidage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0" y="32461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0" y="3246120"/>
            <a:ext cx="269748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300984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30752" y="3337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Éducation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364992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Informations, événements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80760" y="3246120"/>
            <a:ext cx="2697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80760" y="3246120"/>
            <a:ext cx="2697480" cy="4572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30098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11112" y="3337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Hôtellerie &amp; Tourisme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245352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accueil VIP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41" name="Shape 33"/>
          <p:cNvSpPr/>
          <p:nvPr/>
        </p:nvSpPr>
        <p:spPr>
          <a:xfrm>
            <a:off x="320040" y="4572000"/>
            <a:ext cx="29260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34"/>
          <p:cNvSpPr/>
          <p:nvPr/>
        </p:nvSpPr>
        <p:spPr>
          <a:xfrm>
            <a:off x="457200" y="45811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+ 1 000 clients conquis  |  PME – Grands groupes – Institutions – Collectivités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44" name="Shape 36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5" name="Text 37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64008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Corporate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choisir ESDLAB 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valeur ajoutée au-delà du logiciel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54864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1993392"/>
            <a:ext cx="475488" cy="475488"/>
          </a:xfrm>
          <a:prstGeom prst="oval">
            <a:avLst/>
          </a:prstGeom>
          <a:solidFill>
            <a:srgbClr val="C0392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048256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128" y="19019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clé en main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24128" y="22128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Matériel + Logiciel + Installation + Formation + Suivi. Vous n'avez rien à gérer.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091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82880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5"/>
          <p:cNvSpPr/>
          <p:nvPr/>
        </p:nvSpPr>
        <p:spPr>
          <a:xfrm>
            <a:off x="4818888" y="1993392"/>
            <a:ext cx="475488" cy="475488"/>
          </a:xfrm>
          <a:prstGeom prst="oval">
            <a:avLst/>
          </a:prstGeom>
          <a:solidFill>
            <a:srgbClr val="E67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4825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13248" y="19019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locale &amp; réactive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13248" y="22128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à Abidjan, nous intervenons rapidement sur site. Votre interlocuteur parle votre langue.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0040" y="27889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2788920"/>
            <a:ext cx="54864" cy="822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Shape 20"/>
          <p:cNvSpPr/>
          <p:nvPr/>
        </p:nvSpPr>
        <p:spPr>
          <a:xfrm>
            <a:off x="429768" y="2953512"/>
            <a:ext cx="475488" cy="475488"/>
          </a:xfrm>
          <a:prstGeom prst="oval">
            <a:avLst/>
          </a:prstGeom>
          <a:solidFill>
            <a:srgbClr val="2C3E5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08376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128" y="28620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sur mesure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024128" y="31729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client est unique. Nous adaptons DigiLab à vos processus et vos outils existants.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709160" y="27889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2788920"/>
            <a:ext cx="54864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5"/>
          <p:cNvSpPr/>
          <p:nvPr/>
        </p:nvSpPr>
        <p:spPr>
          <a:xfrm>
            <a:off x="4818888" y="2953512"/>
            <a:ext cx="475488" cy="475488"/>
          </a:xfrm>
          <a:prstGeom prst="oval">
            <a:avLst/>
          </a:prstGeom>
          <a:solidFill>
            <a:srgbClr val="C0392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08376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13248" y="28620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Fiabilité &amp; sécurité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13248" y="31729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cloud haute disponibilité, données sécurisées, monitoring 24h/24.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0040" y="374904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" y="374904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Shape 30"/>
          <p:cNvSpPr/>
          <p:nvPr/>
        </p:nvSpPr>
        <p:spPr>
          <a:xfrm>
            <a:off x="429768" y="3913632"/>
            <a:ext cx="475488" cy="475488"/>
          </a:xfrm>
          <a:prstGeom prst="oval">
            <a:avLst/>
          </a:prstGeom>
          <a:solidFill>
            <a:srgbClr val="E67E2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968496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24128" y="3822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 graphique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024128" y="413308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identité visuelle sur chaque écran. Gabarits créés par notre équipe design.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709160" y="374904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709160" y="3749040"/>
            <a:ext cx="54864" cy="822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2" name="Shape 35"/>
          <p:cNvSpPr/>
          <p:nvPr/>
        </p:nvSpPr>
        <p:spPr>
          <a:xfrm>
            <a:off x="4818888" y="3913632"/>
            <a:ext cx="475488" cy="475488"/>
          </a:xfrm>
          <a:prstGeom prst="oval">
            <a:avLst/>
          </a:prstGeom>
          <a:solidFill>
            <a:srgbClr val="2C3E50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68496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413248" y="38221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continu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5413248" y="413308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mise en service à la vie courante : support, formations et évolutions inclus.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47" name="Shape 39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8" name="Text 40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914400"/>
            <a:ext cx="4572000" cy="8229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6583680" y="-914400"/>
            <a:ext cx="4114800" cy="82296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8503920" y="-914400"/>
            <a:ext cx="457200" cy="8229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Esd</a:t>
            </a:r>
            <a:pPr indent="0" marL="0">
              <a:buNone/>
            </a:pPr>
            <a:r>
              <a:rPr lang="en-US" sz="4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System Development, Lab.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2860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Passez à l'affichage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dynamique dès aujourd'hui !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Contactez-nous pour une démonstration gratuite.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560320" cy="5486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Gratuite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Treichville, Abidjan, Côte d'Ivoire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+225 0779565226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contact@esdlab.pro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www.esdlab.pro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89204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www.esdlab.pro  |  contact@esdlab.pro  |  +225 0779565226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901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DigiLab Corporate – Solution d'affichage dynamique</dc:title>
  <dc:subject>PptxGenJS Presentation</dc:subject>
  <dc:creator>ESDLAB</dc:creator>
  <cp:lastModifiedBy>ESDLAB</cp:lastModifiedBy>
  <cp:revision>1</cp:revision>
  <dcterms:created xsi:type="dcterms:W3CDTF">2026-03-06T12:30:52Z</dcterms:created>
  <dcterms:modified xsi:type="dcterms:W3CDTF">2026-03-06T12:30:52Z</dcterms:modified>
</cp:coreProperties>
</file>